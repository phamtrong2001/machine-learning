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6" r:id="rId7"/>
    <p:sldId id="271" r:id="rId8"/>
    <p:sldId id="273" r:id="rId9"/>
    <p:sldId id="274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42D0B"/>
    <a:srgbClr val="76280B"/>
    <a:srgbClr val="F6BF73"/>
    <a:srgbClr val="F9D4A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1678" autoAdjust="0"/>
  </p:normalViewPr>
  <p:slideViewPr>
    <p:cSldViewPr snapToGrid="0">
      <p:cViewPr varScale="1">
        <p:scale>
          <a:sx n="118" d="100"/>
          <a:sy n="118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8805758-D2E5-47F1-BDC8-64F96AB837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9A4D7A7-60FE-4B51-8D3B-098FB2A1B3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66161-D383-45DC-9645-1D21647A8641}" type="datetimeFigureOut">
              <a:rPr lang="en-US" smtClean="0"/>
              <a:t>5/5/2020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748030B-DA71-4B18-AA7C-F991BCB51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BD65FCA-070F-4A6D-A2E0-D5EBEAABC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4D2B8-7AFA-4F86-9DF3-A6BBE4E23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48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789D0-CA34-4934-A369-C3113E12A3EF}" type="datetimeFigureOut">
              <a:rPr lang="en-US" smtClean="0"/>
              <a:t>5/5/2020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79418-37EB-4378-AD22-89DBB000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4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Notes to presenter: </a:t>
            </a:r>
          </a:p>
          <a:p>
            <a:r>
              <a:rPr lang="en-US" i="1" dirty="0"/>
              <a:t>What is your purpose for sharing this reflection</a:t>
            </a:r>
            <a:r>
              <a:rPr lang="en-US" i="1" baseline="0" dirty="0"/>
              <a:t>?</a:t>
            </a:r>
          </a:p>
          <a:p>
            <a:r>
              <a:rPr lang="en-US" i="1" baseline="0" dirty="0"/>
              <a:t>Is it at the end of a unit or project?  </a:t>
            </a:r>
          </a:p>
          <a:p>
            <a:r>
              <a:rPr lang="en-US" i="1" baseline="0" dirty="0"/>
              <a:t>Are you sharing this reflection, at the attainment of a learning goal you set for yourself?  </a:t>
            </a:r>
          </a:p>
          <a:p>
            <a:r>
              <a:rPr lang="en-US" i="1" baseline="0" dirty="0"/>
              <a:t>Is it at the end of a course?  </a:t>
            </a:r>
          </a:p>
          <a:p>
            <a:endParaRPr lang="en-US" baseline="0" dirty="0"/>
          </a:p>
          <a:p>
            <a:r>
              <a:rPr lang="en-US" baseline="0" dirty="0"/>
              <a:t>State your purpose for the reflection or even the purpose of the learning experience or learning goal.  Be clear and be specific in stating your purpose.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34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Description of what you learned in your own words on one side.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Include information about the topic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Details about the topic will also be helpful here.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Tell the story of your learning experience.  Just like a story there should always be a beginning, middle and an end.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On the other side, you can add a graphic that provides evidence of what you learned.</a:t>
            </a:r>
          </a:p>
          <a:p>
            <a:endParaRPr lang="en-US" dirty="0"/>
          </a:p>
          <a:p>
            <a:r>
              <a:rPr lang="en-US" dirty="0"/>
              <a:t>Feel free to use more than one slide to reflect upon your process.  It also helps to add some video of your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91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DD826893-9059-400D-A708-615823828BC9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0" name="Graphic 9" descr="Single gear">
              <a:extLst>
                <a:ext uri="{FF2B5EF4-FFF2-40B4-BE49-F238E27FC236}">
                  <a16:creationId xmlns="" xmlns:a16="http://schemas.microsoft.com/office/drawing/2014/main" id="{4BD7AE3B-6321-488C-8378-B441F7AC62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1" name="Graphic 10" descr="Single gear">
              <a:extLst>
                <a:ext uri="{FF2B5EF4-FFF2-40B4-BE49-F238E27FC236}">
                  <a16:creationId xmlns="" xmlns:a16="http://schemas.microsoft.com/office/drawing/2014/main" id="{52566813-48BF-44A8-9FBD-C9035FDE1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C9098912-FEFB-4951-B070-7ED0F1D455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7187CCFC-946C-4708-98C2-CC97857A5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 bwMode="ltGray">
          <a:xfrm>
            <a:off x="1704975" y="2598834"/>
            <a:ext cx="8782050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293" y="2742465"/>
            <a:ext cx="8494463" cy="137307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9" y="4394039"/>
            <a:ext cx="8493957" cy="11176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1295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4229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0A59AF3-34E3-4F2D-B219-533C8164A410}"/>
              </a:ext>
            </a:extLst>
          </p:cNvPr>
          <p:cNvSpPr/>
          <p:nvPr userDrawn="1"/>
        </p:nvSpPr>
        <p:spPr>
          <a:xfrm>
            <a:off x="0" y="2590078"/>
            <a:ext cx="1602997" cy="1660332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B98DDA9-3997-4600-985C-44C2CABD0BA3}"/>
              </a:ext>
            </a:extLst>
          </p:cNvPr>
          <p:cNvSpPr/>
          <p:nvPr userDrawn="1"/>
        </p:nvSpPr>
        <p:spPr>
          <a:xfrm>
            <a:off x="10606797" y="2590077"/>
            <a:ext cx="1602997" cy="166033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3518" y="2750779"/>
            <a:ext cx="1171888" cy="1356442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896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4E106B9E-EBA8-4369-8705-FDBBA60DC7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0549" y="2101850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80D0165-A38B-4CE8-AE4D-186DBC04F8D4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2" name="Graphic 11" descr="Single gear">
              <a:extLst>
                <a:ext uri="{FF2B5EF4-FFF2-40B4-BE49-F238E27FC236}">
                  <a16:creationId xmlns="" xmlns:a16="http://schemas.microsoft.com/office/drawing/2014/main" id="{90C052C9-F1E0-4264-8CAC-31B0B8F76D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892FFF3D-7B2E-44EB-83BA-5453FEC489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CC5A9AF4-A787-49A3-83CF-889F9AEE0D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="" xmlns:a16="http://schemas.microsoft.com/office/drawing/2014/main" id="{B5D192A5-6FE9-49BC-9104-102935BA03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 Placeholder 7">
            <a:extLst>
              <a:ext uri="{FF2B5EF4-FFF2-40B4-BE49-F238E27FC236}">
                <a16:creationId xmlns="" xmlns:a16="http://schemas.microsoft.com/office/drawing/2014/main" id="{F099E8F9-E092-4E4C-AB87-FB2B4EC4D0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60549" y="3044624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Text Placeholder 7">
            <a:extLst>
              <a:ext uri="{FF2B5EF4-FFF2-40B4-BE49-F238E27FC236}">
                <a16:creationId xmlns="" xmlns:a16="http://schemas.microsoft.com/office/drawing/2014/main" id="{782CF4FC-13E5-4A63-BCF2-3AF43B5F15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60549" y="3987398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6" name="Text Placeholder 7">
            <a:extLst>
              <a:ext uri="{FF2B5EF4-FFF2-40B4-BE49-F238E27FC236}">
                <a16:creationId xmlns="" xmlns:a16="http://schemas.microsoft.com/office/drawing/2014/main" id="{8523C4DE-E0C6-4EE1-9145-DA78191746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0549" y="4930171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3526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EE363D07-B7E9-4C17-BF5B-ADACCCAD7C6C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2" name="Graphic 11" descr="Single gear">
              <a:extLst>
                <a:ext uri="{FF2B5EF4-FFF2-40B4-BE49-F238E27FC236}">
                  <a16:creationId xmlns="" xmlns:a16="http://schemas.microsoft.com/office/drawing/2014/main" id="{BF7F7D52-1EF2-49FA-AE87-7BE7232893F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ACC0D449-4064-40FD-A10D-BE7844EB87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1FE621D1-1FD9-49E2-99C8-0CB37634CD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="" xmlns:a16="http://schemas.microsoft.com/office/drawing/2014/main" id="{0EA6856C-35D0-465E-B0CB-B889D4DA0B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="" xmlns:a16="http://schemas.microsoft.com/office/drawing/2014/main" id="{A493FB47-F1DA-40B8-A1F4-115CD1F708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33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CBF5BF6C-5F7D-464E-B42E-D194CF355A7E}"/>
              </a:ext>
            </a:extLst>
          </p:cNvPr>
          <p:cNvGrpSpPr/>
          <p:nvPr userDrawn="1"/>
        </p:nvGrpSpPr>
        <p:grpSpPr bwMode="ltGray">
          <a:xfrm rot="5400000">
            <a:off x="7096454" y="1615369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8F045C13-A0AE-4F21-8EE7-47DCE4B458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D5197B13-7446-4E28-A62C-4543D7BD6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4B5B975A-536D-4192-B3DE-875F5E141A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="" xmlns:a16="http://schemas.microsoft.com/office/drawing/2014/main" id="{5BB09BB4-511A-4714-92A7-D9CA09D1FD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272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=""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=""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645" y="2336873"/>
            <a:ext cx="4698358" cy="359931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51448" y="2336873"/>
            <a:ext cx="4700058" cy="3599316"/>
          </a:xfrm>
        </p:spPr>
        <p:txBody>
          <a:bodyPr anchor="ctr" anchorCtr="0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697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F90C5C8C-B074-498F-921D-CC0B5DF8FBD3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C270183A-92E0-49A5-B6BC-F193467637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="" xmlns:a16="http://schemas.microsoft.com/office/drawing/2014/main" id="{6E086889-5472-4B65-A156-D0B8F369C3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="" xmlns:a16="http://schemas.microsoft.com/office/drawing/2014/main" id="{4BCBF44F-62C7-4F40-99DF-85C459F43E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8" name="Graphic 17" descr="Single gear">
              <a:extLst>
                <a:ext uri="{FF2B5EF4-FFF2-40B4-BE49-F238E27FC236}">
                  <a16:creationId xmlns="" xmlns:a16="http://schemas.microsoft.com/office/drawing/2014/main" id="{ABF64D53-5ED0-4A1D-A7EA-94CDB0D37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="" xmlns:a16="http://schemas.microsoft.com/office/drawing/2014/main" id="{2565C769-10BF-4E7B-B099-B4FD458436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0" y="2336873"/>
            <a:ext cx="4698358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94123" y="2336873"/>
            <a:ext cx="4700059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713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=""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=""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FD7CD5CF-F924-43C6-9C02-06FBC84A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644" y="2161725"/>
            <a:ext cx="9613861" cy="3702647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1318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phic 10" descr="Single gear">
              <a:extLst>
                <a:ext uri="{FF2B5EF4-FFF2-40B4-BE49-F238E27FC236}">
                  <a16:creationId xmlns=""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phic 11" descr="Single gear">
              <a:extLst>
                <a:ext uri="{FF2B5EF4-FFF2-40B4-BE49-F238E27FC236}">
                  <a16:creationId xmlns=""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934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phic 10" descr="Single gear">
              <a:extLst>
                <a:ext uri="{FF2B5EF4-FFF2-40B4-BE49-F238E27FC236}">
                  <a16:creationId xmlns=""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phic 11" descr="Single gear">
              <a:extLst>
                <a:ext uri="{FF2B5EF4-FFF2-40B4-BE49-F238E27FC236}">
                  <a16:creationId xmlns=""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D683A405-3ADE-448E-893F-D3D2E11CCA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7819" y="2290763"/>
            <a:ext cx="8396362" cy="31003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02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AC2D2AED-B2EF-46D8-BC7C-81AE25C80786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8" name="Graphic 7" descr="Single gear">
              <a:extLst>
                <a:ext uri="{FF2B5EF4-FFF2-40B4-BE49-F238E27FC236}">
                  <a16:creationId xmlns="" xmlns:a16="http://schemas.microsoft.com/office/drawing/2014/main" id="{2F9289FC-9317-4EC5-8064-00D3418501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9" name="Graphic 8" descr="Single gear">
              <a:extLst>
                <a:ext uri="{FF2B5EF4-FFF2-40B4-BE49-F238E27FC236}">
                  <a16:creationId xmlns="" xmlns:a16="http://schemas.microsoft.com/office/drawing/2014/main" id="{09784D29-4AB9-4581-A176-2BC2AD58F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0" name="Graphic 9" descr="Single gear">
              <a:extLst>
                <a:ext uri="{FF2B5EF4-FFF2-40B4-BE49-F238E27FC236}">
                  <a16:creationId xmlns="" xmlns:a16="http://schemas.microsoft.com/office/drawing/2014/main" id="{25EF2775-3EFB-4A64-8FAF-4D8B56AE07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1" name="Graphic 10" descr="Single gear">
              <a:extLst>
                <a:ext uri="{FF2B5EF4-FFF2-40B4-BE49-F238E27FC236}">
                  <a16:creationId xmlns="" xmlns:a16="http://schemas.microsoft.com/office/drawing/2014/main" id="{A34C11DA-4074-454D-800C-0FC5FBF1CD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540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phic 17" descr="Single gear">
              <a:extLst>
                <a:ext uri="{FF2B5EF4-FFF2-40B4-BE49-F238E27FC236}">
                  <a16:creationId xmlns=""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=""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=""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=""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8446" y="2336873"/>
            <a:ext cx="5608336" cy="35993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0702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phic 17" descr="Single gear">
              <a:extLst>
                <a:ext uri="{FF2B5EF4-FFF2-40B4-BE49-F238E27FC236}">
                  <a16:creationId xmlns=""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=""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=""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=""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2620817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="" xmlns:a16="http://schemas.microsoft.com/office/drawing/2014/main" id="{5E59F855-D2A7-4662-804E-17B59CD1A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13022" y="2327474"/>
            <a:ext cx="6833757" cy="36087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5739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1090482"/>
          </a:xfrm>
        </p:spPr>
        <p:txBody>
          <a:bodyPr anchor="ctr" anchorCtr="0">
            <a:normAutofit/>
          </a:bodyPr>
          <a:lstStyle>
            <a:lvl1pPr>
              <a:defRPr sz="24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SmartArt Placeholder 12">
            <a:extLst>
              <a:ext uri="{FF2B5EF4-FFF2-40B4-BE49-F238E27FC236}">
                <a16:creationId xmlns="" xmlns:a16="http://schemas.microsoft.com/office/drawing/2014/main" id="{DBD7FBFD-679C-4A5B-A176-220004B60453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80321" y="386862"/>
            <a:ext cx="9614617" cy="3867638"/>
          </a:xfrm>
        </p:spPr>
        <p:txBody>
          <a:bodyPr/>
          <a:lstStyle/>
          <a:p>
            <a:r>
              <a:rPr lang="en-US" noProof="0" smtClean="0"/>
              <a:t>Click icon to add SmartArt graphic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5996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22B243BA-55F2-42F1-B294-0EB708FCD888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46408269-63CF-4017-AC0D-C35B044D307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7A3695B4-ADE3-45A9-8119-67D5F83A8C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6B8F0030-0551-4558-8533-64D2E4838D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="" xmlns:a16="http://schemas.microsoft.com/office/drawing/2014/main" id="{59607E3E-29E0-44E4-899A-0955FA4D36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="" xmlns:a16="http://schemas.microsoft.com/office/drawing/2014/main" id="{AD4251FC-462A-4B83-9F84-2358E52E31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4006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D7FCAB52-C8F0-4659-9B95-C792632631CE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9" name="Graphic 18" descr="Single gear">
              <a:extLst>
                <a:ext uri="{FF2B5EF4-FFF2-40B4-BE49-F238E27FC236}">
                  <a16:creationId xmlns="" xmlns:a16="http://schemas.microsoft.com/office/drawing/2014/main" id="{5E98770F-9E46-4F69-9A76-F671813AF57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="" xmlns:a16="http://schemas.microsoft.com/office/drawing/2014/main" id="{F08BF8CF-C3C2-4767-B88B-DE07E6A628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="" xmlns:a16="http://schemas.microsoft.com/office/drawing/2014/main" id="{E63AFEB7-4AAE-448E-8B0B-C2F2287771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2" name="Graphic 21" descr="Single gear">
              <a:extLst>
                <a:ext uri="{FF2B5EF4-FFF2-40B4-BE49-F238E27FC236}">
                  <a16:creationId xmlns="" xmlns:a16="http://schemas.microsoft.com/office/drawing/2014/main" id="{E279C731-1AAF-453A-94B0-6CC292039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32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8CB2BD5A-C0EC-4AC1-BBF1-851D8321B964}"/>
              </a:ext>
            </a:extLst>
          </p:cNvPr>
          <p:cNvGrpSpPr/>
          <p:nvPr userDrawn="1"/>
        </p:nvGrpSpPr>
        <p:grpSpPr>
          <a:xfrm rot="5400000">
            <a:off x="188826" y="1282475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="" xmlns:a16="http://schemas.microsoft.com/office/drawing/2014/main" id="{538A56DB-6938-460F-9BB3-A0A34C234B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="" xmlns:a16="http://schemas.microsoft.com/office/drawing/2014/main" id="{E2A1D679-9D00-4DC7-82EC-B6C33270E7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="" xmlns:a16="http://schemas.microsoft.com/office/drawing/2014/main" id="{8DFB6E86-77FA-4731-B7FA-5A63254A3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="" xmlns:a16="http://schemas.microsoft.com/office/drawing/2014/main" id="{982D40F0-DDB8-45E0-B9D1-5964842C73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="" xmlns:a16="http://schemas.microsoft.com/office/drawing/2014/main" id="{D744A42C-4948-489C-8EB2-12C65C47E9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89" y="5928628"/>
            <a:ext cx="10437812" cy="3211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754188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-4931" y="4556102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332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7333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47994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7334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8697" y="4698039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8936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BFC60FB4-27C2-4896-9B64-2DFE33815CE2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24" name="Graphic 23" descr="Single gear">
              <a:extLst>
                <a:ext uri="{FF2B5EF4-FFF2-40B4-BE49-F238E27FC236}">
                  <a16:creationId xmlns="" xmlns:a16="http://schemas.microsoft.com/office/drawing/2014/main" id="{EE89D477-BED5-4149-965A-0C122D97A0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5" name="Graphic 24" descr="Single gear">
              <a:extLst>
                <a:ext uri="{FF2B5EF4-FFF2-40B4-BE49-F238E27FC236}">
                  <a16:creationId xmlns="" xmlns:a16="http://schemas.microsoft.com/office/drawing/2014/main" id="{5CCE09A4-D09F-43A2-8459-2E9D3E9602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6" name="Graphic 25" descr="Single gear">
              <a:extLst>
                <a:ext uri="{FF2B5EF4-FFF2-40B4-BE49-F238E27FC236}">
                  <a16:creationId xmlns="" xmlns:a16="http://schemas.microsoft.com/office/drawing/2014/main" id="{9A46A1B3-2A0B-4FFE-AE15-A11187E4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7" name="Graphic 26" descr="Single gear">
              <a:extLst>
                <a:ext uri="{FF2B5EF4-FFF2-40B4-BE49-F238E27FC236}">
                  <a16:creationId xmlns="" xmlns:a16="http://schemas.microsoft.com/office/drawing/2014/main" id="{D4F4A02A-94BC-4984-A372-3B77FC854C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2837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D1F89FDF-9788-47AD-B230-0314E7C8D087}"/>
              </a:ext>
            </a:extLst>
          </p:cNvPr>
          <p:cNvGrpSpPr/>
          <p:nvPr userDrawn="1"/>
        </p:nvGrpSpPr>
        <p:grpSpPr>
          <a:xfrm rot="10800000">
            <a:off x="99308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9" name="Graphic 18" descr="Single gear">
              <a:extLst>
                <a:ext uri="{FF2B5EF4-FFF2-40B4-BE49-F238E27FC236}">
                  <a16:creationId xmlns="" xmlns:a16="http://schemas.microsoft.com/office/drawing/2014/main" id="{9CD6B783-A97E-437E-B4E2-F7D761F0A2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="" xmlns:a16="http://schemas.microsoft.com/office/drawing/2014/main" id="{4699BB72-0480-4165-8D15-316CEED8CE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="" xmlns:a16="http://schemas.microsoft.com/office/drawing/2014/main" id="{685C07D9-1911-4085-8555-C992A61B10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22" name="Graphic 21" descr="Single gear">
              <a:extLst>
                <a:ext uri="{FF2B5EF4-FFF2-40B4-BE49-F238E27FC236}">
                  <a16:creationId xmlns="" xmlns:a16="http://schemas.microsoft.com/office/drawing/2014/main" id="{D621B3C3-2371-4ED0-BC1D-87AABF852B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23" name="Graphic 22" descr="Single gear">
              <a:extLst>
                <a:ext uri="{FF2B5EF4-FFF2-40B4-BE49-F238E27FC236}">
                  <a16:creationId xmlns="" xmlns:a16="http://schemas.microsoft.com/office/drawing/2014/main" id="{D7D15287-50FE-4441-BA06-D454D73F7E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6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98925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1859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0493" y="748304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2664D24B-EA78-4E18-9226-569365267E5E}"/>
              </a:ext>
            </a:extLst>
          </p:cNvPr>
          <p:cNvCxnSpPr/>
          <p:nvPr userDrawn="1"/>
        </p:nvCxnSpPr>
        <p:spPr>
          <a:xfrm>
            <a:off x="85711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1">
            <a:extLst>
              <a:ext uri="{FF2B5EF4-FFF2-40B4-BE49-F238E27FC236}">
                <a16:creationId xmlns="" xmlns:a16="http://schemas.microsoft.com/office/drawing/2014/main" id="{5BE17E03-04A7-46ED-8623-88DFFD7E30B0}"/>
              </a:ext>
            </a:extLst>
          </p:cNvPr>
          <p:cNvSpPr txBox="1">
            <a:spLocks/>
          </p:cNvSpPr>
          <p:nvPr userDrawn="1"/>
        </p:nvSpPr>
        <p:spPr>
          <a:xfrm>
            <a:off x="2106131" y="790252"/>
            <a:ext cx="306080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noProof="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="" xmlns:a16="http://schemas.microsoft.com/office/drawing/2014/main" id="{A3840076-AFCB-4C84-8E23-85DAD3CBEF3E}"/>
              </a:ext>
            </a:extLst>
          </p:cNvPr>
          <p:cNvCxnSpPr/>
          <p:nvPr userDrawn="1"/>
        </p:nvCxnSpPr>
        <p:spPr>
          <a:xfrm>
            <a:off x="52945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itle 50">
            <a:extLst>
              <a:ext uri="{FF2B5EF4-FFF2-40B4-BE49-F238E27FC236}">
                <a16:creationId xmlns="" xmlns:a16="http://schemas.microsoft.com/office/drawing/2014/main" id="{BBA20603-8433-4B38-976F-F18CF78D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132" y="735087"/>
            <a:ext cx="3060802" cy="1080938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3" name="Text Placeholder 52">
            <a:extLst>
              <a:ext uri="{FF2B5EF4-FFF2-40B4-BE49-F238E27FC236}">
                <a16:creationId xmlns="" xmlns:a16="http://schemas.microsoft.com/office/drawing/2014/main" id="{EF340F6C-3335-49B0-AE89-7103CA6A7F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4611" y="735013"/>
            <a:ext cx="3060700" cy="108108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>
              <a:defRPr sz="3600">
                <a:latin typeface="+mj-lt"/>
              </a:defRPr>
            </a:lvl2pPr>
            <a:lvl3pPr>
              <a:defRPr sz="3600">
                <a:latin typeface="+mj-lt"/>
              </a:defRPr>
            </a:lvl3pPr>
            <a:lvl4pPr>
              <a:defRPr sz="3600">
                <a:latin typeface="+mj-lt"/>
              </a:defRPr>
            </a:lvl4pPr>
            <a:lvl5pPr>
              <a:defRPr sz="3600">
                <a:latin typeface="+mj-lt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="" xmlns:a16="http://schemas.microsoft.com/office/drawing/2014/main" id="{1F0AD31D-2FFB-40A9-96C2-F4EE3869BC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62988" y="746125"/>
            <a:ext cx="3070225" cy="10588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 algn="ctr">
              <a:defRPr sz="3600">
                <a:latin typeface="+mj-lt"/>
              </a:defRPr>
            </a:lvl2pPr>
            <a:lvl3pPr algn="ctr">
              <a:defRPr sz="3600">
                <a:latin typeface="+mj-lt"/>
              </a:defRPr>
            </a:lvl3pPr>
            <a:lvl4pPr algn="ctr">
              <a:defRPr sz="3600">
                <a:latin typeface="+mj-lt"/>
              </a:defRPr>
            </a:lvl4pPr>
            <a:lvl5pPr algn="ctr">
              <a:defRPr sz="3600">
                <a:latin typeface="+mj-lt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7" name="Content Placeholder 56">
            <a:extLst>
              <a:ext uri="{FF2B5EF4-FFF2-40B4-BE49-F238E27FC236}">
                <a16:creationId xmlns="" xmlns:a16="http://schemas.microsoft.com/office/drawing/2014/main" id="{52B689E9-5B4C-4CC0-AAA4-847EB66C330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06131" y="2116138"/>
            <a:ext cx="3060802" cy="371316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8" name="Content Placeholder 56">
            <a:extLst>
              <a:ext uri="{FF2B5EF4-FFF2-40B4-BE49-F238E27FC236}">
                <a16:creationId xmlns="" xmlns:a16="http://schemas.microsoft.com/office/drawing/2014/main" id="{1D5202CC-08D0-4157-9CB3-AA1EF4A2C85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84611" y="2103211"/>
            <a:ext cx="3060802" cy="371316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9" name="Content Placeholder 56">
            <a:extLst>
              <a:ext uri="{FF2B5EF4-FFF2-40B4-BE49-F238E27FC236}">
                <a16:creationId xmlns="" xmlns:a16="http://schemas.microsoft.com/office/drawing/2014/main" id="{7BE8E782-50B7-4C4E-BEA5-DDA27E0F681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659892" y="2097613"/>
            <a:ext cx="3060802" cy="371316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25301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bg bwMode="blackWhite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2C074DF2-6D4F-4B58-A82E-6322DB69A6CC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42297"/>
            <a:chOff x="7232499" y="-159283"/>
            <a:chExt cx="4959501" cy="5242297"/>
          </a:xfrm>
          <a:solidFill>
            <a:srgbClr val="76280B">
              <a:alpha val="60000"/>
            </a:srgbClr>
          </a:solidFill>
        </p:grpSpPr>
        <p:pic>
          <p:nvPicPr>
            <p:cNvPr id="29" name="Graphic 28" descr="Single gear">
              <a:extLst>
                <a:ext uri="{FF2B5EF4-FFF2-40B4-BE49-F238E27FC236}">
                  <a16:creationId xmlns="" xmlns:a16="http://schemas.microsoft.com/office/drawing/2014/main" id="{B9A8CB2C-0A50-43EC-A2C7-F536FF84DE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31" name="Graphic 30" descr="Single gear">
              <a:extLst>
                <a:ext uri="{FF2B5EF4-FFF2-40B4-BE49-F238E27FC236}">
                  <a16:creationId xmlns="" xmlns:a16="http://schemas.microsoft.com/office/drawing/2014/main" id="{71F3D36D-2C1A-4D06-A27F-6A64AA1188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32" name="Graphic 31" descr="Single gear">
              <a:extLst>
                <a:ext uri="{FF2B5EF4-FFF2-40B4-BE49-F238E27FC236}">
                  <a16:creationId xmlns="" xmlns:a16="http://schemas.microsoft.com/office/drawing/2014/main" id="{61F0F601-D5AC-45C0-92B6-2376085B0D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203014"/>
              <a:ext cx="2880000" cy="2880000"/>
            </a:xfrm>
            <a:prstGeom prst="rect">
              <a:avLst/>
            </a:prstGeom>
          </p:spPr>
        </p:pic>
        <p:pic>
          <p:nvPicPr>
            <p:cNvPr id="33" name="Graphic 32" descr="Single gear">
              <a:extLst>
                <a:ext uri="{FF2B5EF4-FFF2-40B4-BE49-F238E27FC236}">
                  <a16:creationId xmlns="" xmlns:a16="http://schemas.microsoft.com/office/drawing/2014/main" id="{DE792A6A-B423-4979-BD59-4CD4A74069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556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1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D6166-2B42-4F11-BAA6-8ABAE1BE810C}" type="datetimeFigureOut">
              <a:rPr lang="en-US" noProof="0" smtClean="0"/>
              <a:t>5/5/2020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26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9" r:id="rId5"/>
    <p:sldLayoutId id="2147483665" r:id="rId6"/>
    <p:sldLayoutId id="2147483680" r:id="rId7"/>
    <p:sldLayoutId id="2147483666" r:id="rId8"/>
    <p:sldLayoutId id="2147483682" r:id="rId9"/>
    <p:sldLayoutId id="2147483667" r:id="rId10"/>
    <p:sldLayoutId id="2147483668" r:id="rId11"/>
    <p:sldLayoutId id="2147483681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8" r:id="rId18"/>
    <p:sldLayoutId id="214748367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Book icon">
            <a:extLst>
              <a:ext uri="{FF2B5EF4-FFF2-40B4-BE49-F238E27FC236}">
                <a16:creationId xmlns="" xmlns:a16="http://schemas.microsoft.com/office/drawing/2014/main" id="{E26792AF-5D39-4A12-8EDD-CC09A60BD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993" y="2961000"/>
            <a:ext cx="936000" cy="93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98BBFB-4314-436C-A688-96F483D69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lang="en-GB" dirty="0" smtClean="0"/>
              <a:t>Machine Learning </a:t>
            </a:r>
            <a:r>
              <a:rPr lang="en-GB" dirty="0" err="1" smtClean="0"/>
              <a:t>và</a:t>
            </a:r>
            <a:r>
              <a:rPr lang="en-GB" dirty="0" smtClean="0"/>
              <a:t> Linear Regression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AA173D3-8B7E-4F91-B862-AC30CB0D27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Phạm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Trọng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5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37E30B-392D-4691-8125-129E25AA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??</a:t>
            </a:r>
            <a:endParaRPr lang="en-US" dirty="0"/>
          </a:p>
        </p:txBody>
      </p:sp>
      <p:pic>
        <p:nvPicPr>
          <p:cNvPr id="5" name="Graphic 4" descr="Purpose icon">
            <a:extLst>
              <a:ext uri="{FF2B5EF4-FFF2-40B4-BE49-F238E27FC236}">
                <a16:creationId xmlns="" xmlns:a16="http://schemas.microsoft.com/office/drawing/2014/main" id="{28F7ACE2-5D39-488F-AF39-9DEDFF0FF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3486" y="2947289"/>
            <a:ext cx="936000" cy="936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7C2A41D-6B6E-4DD0-A7BD-E8CA00126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22" y="4232170"/>
            <a:ext cx="6548251" cy="222638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Machine learning (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AI (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tuệ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Nói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Machine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Khoa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026" name="Picture 2" descr="Trí tuệ nhân tạo (AI) sẽ thay đổi bất động sản trong tương lai kỹ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791" y="4408754"/>
            <a:ext cx="3325544" cy="204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84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Learning icon">
            <a:extLst>
              <a:ext uri="{FF2B5EF4-FFF2-40B4-BE49-F238E27FC236}">
                <a16:creationId xmlns="" xmlns:a16="http://schemas.microsoft.com/office/drawing/2014/main" id="{FE130EDC-6F0A-417B-A698-CF2C65F0A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46" y="613889"/>
            <a:ext cx="1440000" cy="14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8D0989-E3E5-41DB-A78D-61E19949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 smtClean="0"/>
              <a:t>Phân</a:t>
            </a:r>
            <a:r>
              <a:rPr lang="en-US" sz="3400" dirty="0" smtClean="0"/>
              <a:t> </a:t>
            </a:r>
            <a:r>
              <a:rPr lang="en-US" sz="3400" dirty="0" err="1" smtClean="0"/>
              <a:t>nhóm</a:t>
            </a:r>
            <a:r>
              <a:rPr lang="en-US" sz="3400" dirty="0" smtClean="0"/>
              <a:t> </a:t>
            </a:r>
            <a:r>
              <a:rPr lang="en-US" sz="3400" dirty="0" err="1" smtClean="0"/>
              <a:t>các</a:t>
            </a:r>
            <a:r>
              <a:rPr lang="en-US" sz="3400" dirty="0" smtClean="0"/>
              <a:t> </a:t>
            </a:r>
            <a:r>
              <a:rPr lang="en-US" sz="3400" dirty="0" err="1" smtClean="0"/>
              <a:t>thuật</a:t>
            </a:r>
            <a:r>
              <a:rPr lang="en-US" sz="3400" dirty="0" smtClean="0"/>
              <a:t> </a:t>
            </a:r>
            <a:r>
              <a:rPr lang="en-US" sz="3400" dirty="0" err="1" smtClean="0"/>
              <a:t>toán</a:t>
            </a:r>
            <a:r>
              <a:rPr lang="en-US" sz="3400" dirty="0" smtClean="0"/>
              <a:t> Machine Learning</a:t>
            </a: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DB23205-1719-4B43-A690-268E347D3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37644" y="2336873"/>
            <a:ext cx="9691803" cy="42083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Supervised Learning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Classification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Regression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Hồi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Unsupervised Learning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Clustering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Association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GB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Semi-Supervised Learning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Reinforcement Learning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VD: Regression Algorithms, Classification Algorithms,…)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20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Linear Regression (</a:t>
            </a:r>
            <a:r>
              <a:rPr lang="en-GB" dirty="0" err="1" smtClean="0"/>
              <a:t>Hồi</a:t>
            </a:r>
            <a:r>
              <a:rPr lang="en-GB" dirty="0" smtClean="0"/>
              <a:t> </a:t>
            </a:r>
            <a:r>
              <a:rPr lang="en-GB" dirty="0" err="1" smtClean="0"/>
              <a:t>quy</a:t>
            </a:r>
            <a:r>
              <a:rPr lang="en-GB" dirty="0" smtClean="0"/>
              <a:t> </a:t>
            </a:r>
            <a:r>
              <a:rPr lang="en-GB" dirty="0" err="1" smtClean="0"/>
              <a:t>tuyến</a:t>
            </a:r>
            <a:r>
              <a:rPr lang="en-GB" dirty="0" smtClean="0"/>
              <a:t> </a:t>
            </a:r>
            <a:r>
              <a:rPr lang="en-GB" dirty="0" err="1" smtClean="0"/>
              <a:t>tính</a:t>
            </a:r>
            <a:r>
              <a:rPr lang="en-GB" dirty="0" smtClean="0"/>
              <a:t>)</a:t>
            </a:r>
            <a:endParaRPr lang="en-US" dirty="0"/>
          </a:p>
        </p:txBody>
      </p:sp>
      <p:pic>
        <p:nvPicPr>
          <p:cNvPr id="2050" name="Picture 2" descr="Linear regression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885" y="2353751"/>
            <a:ext cx="5954795" cy="3940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95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29" y="2067931"/>
            <a:ext cx="9613861" cy="617518"/>
          </a:xfrm>
        </p:spPr>
        <p:txBody>
          <a:bodyPr>
            <a:normAutofit/>
          </a:bodyPr>
          <a:lstStyle/>
          <a:p>
            <a:r>
              <a:rPr lang="en-GB" sz="2800" dirty="0" smtClean="0"/>
              <a:t>1/</a:t>
            </a:r>
            <a:r>
              <a:rPr lang="en-GB" sz="2800" dirty="0" err="1" smtClean="0"/>
              <a:t>Bài</a:t>
            </a:r>
            <a:r>
              <a:rPr lang="en-GB" sz="2800" dirty="0" smtClean="0"/>
              <a:t> </a:t>
            </a:r>
            <a:r>
              <a:rPr lang="en-GB" sz="2800" dirty="0" err="1" smtClean="0"/>
              <a:t>toán</a:t>
            </a:r>
            <a:r>
              <a:rPr lang="en-GB" sz="2800" dirty="0" smtClean="0"/>
              <a:t> </a:t>
            </a:r>
            <a:r>
              <a:rPr lang="en-GB" sz="2800" dirty="0" err="1" smtClean="0"/>
              <a:t>ví</a:t>
            </a:r>
            <a:r>
              <a:rPr lang="en-GB" sz="2800" dirty="0" smtClean="0"/>
              <a:t> </a:t>
            </a:r>
            <a:r>
              <a:rPr lang="en-GB" sz="2800" dirty="0" err="1" smtClean="0"/>
              <a:t>dụ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5729" y="2800418"/>
                <a:ext cx="3725081" cy="34785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Một </a:t>
                </a:r>
                <a:r>
                  <a:rPr lang="en-GB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căn</a:t>
                </a:r>
                <a:r>
                  <a:rPr lang="en-GB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nhà</a:t>
                </a:r>
                <a:r>
                  <a:rPr lang="en-GB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rộng</a:t>
                </a:r>
                <a:r>
                  <a:rPr lang="en-GB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m</a:t>
                </a:r>
                <a:r>
                  <a:rPr lang="en-US" sz="2000" i="1" baseline="30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phòng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ngủ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và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cách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trung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tâm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thành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phố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km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giá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bao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nhiêu</a:t>
                </a:r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??</a:t>
                </a:r>
              </a:p>
              <a:p>
                <a:pPr marL="0" indent="0">
                  <a:buNone/>
                </a:pP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Giả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sử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chúng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ta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đã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liệu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thống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kê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từ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1000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căn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nhà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khi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căn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nhà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liệu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ta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thể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dự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đoán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giá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căn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nhà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đó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không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??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Nếu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thì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dự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đoán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sẽ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dạng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như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thế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nào</a:t>
                </a:r>
                <a:r>
                  <a:rPr 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?)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729" y="2800418"/>
                <a:ext cx="3725081" cy="3478575"/>
              </a:xfrm>
              <a:blipFill rotWithShape="0">
                <a:blip r:embed="rId2"/>
                <a:stretch>
                  <a:fillRect l="-1800" t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2001288" y="702091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Linear Regression (</a:t>
            </a:r>
            <a:r>
              <a:rPr lang="en-GB" dirty="0" err="1" smtClean="0"/>
              <a:t>Hồi</a:t>
            </a:r>
            <a:r>
              <a:rPr lang="en-GB" dirty="0" smtClean="0"/>
              <a:t> </a:t>
            </a:r>
            <a:r>
              <a:rPr lang="en-GB" dirty="0" err="1" smtClean="0"/>
              <a:t>quy</a:t>
            </a:r>
            <a:r>
              <a:rPr lang="en-GB" dirty="0" smtClean="0"/>
              <a:t> </a:t>
            </a:r>
            <a:r>
              <a:rPr lang="en-GB" dirty="0" err="1" smtClean="0"/>
              <a:t>tuyến</a:t>
            </a:r>
            <a:r>
              <a:rPr lang="en-GB" dirty="0" smtClean="0"/>
              <a:t> </a:t>
            </a:r>
            <a:r>
              <a:rPr lang="en-GB" dirty="0" err="1" smtClean="0"/>
              <a:t>tính</a:t>
            </a:r>
            <a:r>
              <a:rPr lang="en-GB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04" y="2865002"/>
            <a:ext cx="6380050" cy="35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5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29" y="2067931"/>
            <a:ext cx="9613861" cy="617518"/>
          </a:xfrm>
        </p:spPr>
        <p:txBody>
          <a:bodyPr>
            <a:normAutofit/>
          </a:bodyPr>
          <a:lstStyle/>
          <a:p>
            <a:r>
              <a:rPr lang="en-GB" sz="2800" dirty="0"/>
              <a:t>2</a:t>
            </a:r>
            <a:r>
              <a:rPr lang="en-GB" sz="2800" dirty="0" smtClean="0"/>
              <a:t>/</a:t>
            </a:r>
            <a:r>
              <a:rPr lang="en-GB" sz="2800" dirty="0" err="1" smtClean="0"/>
              <a:t>Phân</a:t>
            </a:r>
            <a:r>
              <a:rPr lang="en-GB" sz="2800" dirty="0" smtClean="0"/>
              <a:t> </a:t>
            </a:r>
            <a:r>
              <a:rPr lang="en-GB" sz="2800" dirty="0" err="1" smtClean="0"/>
              <a:t>tích</a:t>
            </a:r>
            <a:r>
              <a:rPr lang="en-GB" sz="2800" dirty="0" smtClean="0"/>
              <a:t> </a:t>
            </a:r>
            <a:r>
              <a:rPr lang="en-GB" sz="2800" dirty="0" err="1" smtClean="0"/>
              <a:t>toán</a:t>
            </a:r>
            <a:r>
              <a:rPr lang="en-GB" sz="2800" dirty="0" smtClean="0"/>
              <a:t> </a:t>
            </a:r>
            <a:r>
              <a:rPr lang="en-GB" sz="2800" dirty="0" err="1" smtClean="0"/>
              <a:t>học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5538" y="2685449"/>
                <a:ext cx="11136534" cy="3907856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Một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thể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mô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tả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mqh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giữa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giá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3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đại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lượng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đầu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vào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GB" sz="2000" b="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(*)</a:t>
                </a:r>
                <a:br>
                  <a:rPr lang="en-GB" sz="2000" b="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Mqh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mqh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tuyến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tính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Bài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toán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đi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tìm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hệ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tối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ưu</a:t>
                </a:r>
                <a:r>
                  <a:rPr lang="en-GB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chính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vì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vậy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gọi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bài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toán</a:t>
                </a:r>
                <a:r>
                  <a:rPr lang="en-US" sz="1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Linear Regression)</a:t>
                </a:r>
              </a:p>
              <a:p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Nếu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chúng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ta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đặt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</m:acc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và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=[1,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thì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phương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trình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(*)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thể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viết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lại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≈</m:t>
                      </m:r>
                      <m:acc>
                        <m:accPr>
                          <m:chr m:val="⃗"/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Sai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dự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đoán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chúng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ta mong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muốn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sự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sai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khác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giữa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nhỏ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nhất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hay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nói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cách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khác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ta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muốn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giá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trị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sau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càng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nhỏ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càng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tốt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acc>
                              <m:acc>
                                <m:accPr>
                                  <m:chr m:val="⃗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538" y="2685449"/>
                <a:ext cx="11136534" cy="3907856"/>
              </a:xfrm>
              <a:blipFill rotWithShape="0">
                <a:blip r:embed="rId2"/>
                <a:stretch>
                  <a:fillRect l="-493" t="-1560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2001288" y="702091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Linear Regression (</a:t>
            </a:r>
            <a:r>
              <a:rPr lang="en-GB" dirty="0" err="1" smtClean="0"/>
              <a:t>Hồi</a:t>
            </a:r>
            <a:r>
              <a:rPr lang="en-GB" dirty="0" smtClean="0"/>
              <a:t> </a:t>
            </a:r>
            <a:r>
              <a:rPr lang="en-GB" dirty="0" err="1" smtClean="0"/>
              <a:t>quy</a:t>
            </a:r>
            <a:r>
              <a:rPr lang="en-GB" dirty="0" smtClean="0"/>
              <a:t> </a:t>
            </a:r>
            <a:r>
              <a:rPr lang="en-GB" dirty="0" err="1" smtClean="0"/>
              <a:t>tuyến</a:t>
            </a:r>
            <a:r>
              <a:rPr lang="en-GB" dirty="0" smtClean="0"/>
              <a:t> </a:t>
            </a:r>
            <a:r>
              <a:rPr lang="en-GB" dirty="0" err="1" smtClean="0"/>
              <a:t>tính</a:t>
            </a:r>
            <a:r>
              <a:rPr lang="en-GB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5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29" y="2067931"/>
            <a:ext cx="9613861" cy="617518"/>
          </a:xfrm>
        </p:spPr>
        <p:txBody>
          <a:bodyPr>
            <a:normAutofit/>
          </a:bodyPr>
          <a:lstStyle/>
          <a:p>
            <a:r>
              <a:rPr lang="en-GB" sz="2800" dirty="0"/>
              <a:t>2</a:t>
            </a:r>
            <a:r>
              <a:rPr lang="en-GB" sz="2800" dirty="0" smtClean="0"/>
              <a:t>/</a:t>
            </a:r>
            <a:r>
              <a:rPr lang="en-GB" sz="2800" dirty="0" err="1" smtClean="0"/>
              <a:t>Phân</a:t>
            </a:r>
            <a:r>
              <a:rPr lang="en-GB" sz="2800" dirty="0" smtClean="0"/>
              <a:t> </a:t>
            </a:r>
            <a:r>
              <a:rPr lang="en-GB" sz="2800" dirty="0" err="1" smtClean="0"/>
              <a:t>tích</a:t>
            </a:r>
            <a:r>
              <a:rPr lang="en-GB" sz="2800" dirty="0" smtClean="0"/>
              <a:t> </a:t>
            </a:r>
            <a:r>
              <a:rPr lang="en-GB" sz="2800" dirty="0" err="1" smtClean="0"/>
              <a:t>toán</a:t>
            </a:r>
            <a:r>
              <a:rPr lang="en-GB" sz="2800" dirty="0" smtClean="0"/>
              <a:t> </a:t>
            </a:r>
            <a:r>
              <a:rPr lang="en-GB" sz="2800" dirty="0" err="1" smtClean="0"/>
              <a:t>học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5729" y="2685449"/>
                <a:ext cx="11136534" cy="411186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mất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mát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Điều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tự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xảy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ra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tất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cả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N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cặp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dữ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liệu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(input, outcome)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Chúng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ta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muốn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tổng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sai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nhỏ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nhất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việc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tìm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để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sau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đạt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GTNN: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acc>
                                    <m:accPr>
                                      <m:chr m:val="⃗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(∗∗)</m:t>
                      </m:r>
                    </m:oMath>
                  </m:oMathPara>
                </a14:m>
                <a:endParaRPr lang="en-US" sz="2000" i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ℒ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gọi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mất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mát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bài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toán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Linear Regression.</a:t>
                </a:r>
              </a:p>
              <a:p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Giá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trị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làm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cho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mất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mát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đạt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giá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trị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nhỏ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nhất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gọi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điểm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tối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ưu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opimal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point):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000" b="0" i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min</m:t>
                                  </m:r>
                                </m:e>
                                <m:lim>
                                  <m:acc>
                                    <m:accPr>
                                      <m:chr m:val="⃗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lim>
                              </m:limLow>
                            </m:fNam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000" b="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Đặt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acc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=[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;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;…;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1 vector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chứa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output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training data,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acc>
                          <m:accPr>
                            <m:chr m:val="⃗"/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;…;</m:t>
                        </m:r>
                        <m:acc>
                          <m:accPr>
                            <m:chr m:val="⃗"/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ma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dữ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liệu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đầu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vào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đó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mất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mát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viết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dưới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đơn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giản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hơn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𝑋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2000" i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GB" sz="1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khoảng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cách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Euclid </a:t>
                </a:r>
                <a:r>
                  <a:rPr lang="en-GB" sz="1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729" y="2685449"/>
                <a:ext cx="11136534" cy="4111861"/>
              </a:xfrm>
              <a:blipFill rotWithShape="0">
                <a:blip r:embed="rId2"/>
                <a:stretch>
                  <a:fillRect l="-493" t="-2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2001288" y="702091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Linear Regression (</a:t>
            </a:r>
            <a:r>
              <a:rPr lang="en-GB" dirty="0" err="1" smtClean="0"/>
              <a:t>Hồi</a:t>
            </a:r>
            <a:r>
              <a:rPr lang="en-GB" dirty="0" smtClean="0"/>
              <a:t> </a:t>
            </a:r>
            <a:r>
              <a:rPr lang="en-GB" dirty="0" err="1" smtClean="0"/>
              <a:t>quy</a:t>
            </a:r>
            <a:r>
              <a:rPr lang="en-GB" dirty="0" smtClean="0"/>
              <a:t> </a:t>
            </a:r>
            <a:r>
              <a:rPr lang="en-GB" dirty="0" err="1" smtClean="0"/>
              <a:t>tuyến</a:t>
            </a:r>
            <a:r>
              <a:rPr lang="en-GB" dirty="0" smtClean="0"/>
              <a:t> </a:t>
            </a:r>
            <a:r>
              <a:rPr lang="en-GB" dirty="0" err="1" smtClean="0"/>
              <a:t>tính</a:t>
            </a:r>
            <a:r>
              <a:rPr lang="en-GB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65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29" y="2067931"/>
            <a:ext cx="9613861" cy="617518"/>
          </a:xfrm>
        </p:spPr>
        <p:txBody>
          <a:bodyPr>
            <a:normAutofit/>
          </a:bodyPr>
          <a:lstStyle/>
          <a:p>
            <a:r>
              <a:rPr lang="en-GB" sz="2800" dirty="0"/>
              <a:t>2</a:t>
            </a:r>
            <a:r>
              <a:rPr lang="en-GB" sz="2800" dirty="0" smtClean="0"/>
              <a:t>/</a:t>
            </a:r>
            <a:r>
              <a:rPr lang="en-GB" sz="2800" dirty="0" err="1" smtClean="0"/>
              <a:t>Phân</a:t>
            </a:r>
            <a:r>
              <a:rPr lang="en-GB" sz="2800" dirty="0" smtClean="0"/>
              <a:t> </a:t>
            </a:r>
            <a:r>
              <a:rPr lang="en-GB" sz="2800" dirty="0" err="1" smtClean="0"/>
              <a:t>tích</a:t>
            </a:r>
            <a:r>
              <a:rPr lang="en-GB" sz="2800" dirty="0" smtClean="0"/>
              <a:t> </a:t>
            </a:r>
            <a:r>
              <a:rPr lang="en-GB" sz="2800" dirty="0" err="1" smtClean="0"/>
              <a:t>toán</a:t>
            </a:r>
            <a:r>
              <a:rPr lang="en-GB" sz="2800" dirty="0" smtClean="0"/>
              <a:t> </a:t>
            </a:r>
            <a:r>
              <a:rPr lang="en-GB" sz="2800" dirty="0" err="1" smtClean="0"/>
              <a:t>học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5729" y="2716710"/>
                <a:ext cx="11136534" cy="3862115"/>
              </a:xfrm>
            </p:spPr>
            <p:txBody>
              <a:bodyPr>
                <a:normAutofit/>
              </a:bodyPr>
              <a:lstStyle/>
              <a:p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Nghiệm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bài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toán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Cách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phổ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biến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nhất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để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tìm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nghiệm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bài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toán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tối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ưu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giải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trình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đạo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bằng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0.</a:t>
                </a:r>
              </a:p>
              <a:p>
                <a:pPr marL="0" indent="0">
                  <a:buNone/>
                </a:pP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Đạo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mất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mát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acc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acc>
                            <m:accPr>
                              <m:chr m:val="⃗"/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trình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đạo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= 0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acc>
                        <m:accPr>
                          <m:chr m:val="⃗"/>
                          <m:ctrlP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acc>
                      <m:r>
                        <a:rPr lang="en-GB" sz="20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≜</m:t>
                      </m:r>
                      <m:acc>
                        <m:accPr>
                          <m:chr m:val="⃗"/>
                          <m:ctrlP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(1)</m:t>
                      </m:r>
                    </m:oMath>
                  </m:oMathPara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Nếu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ma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trận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vuông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≜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khả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nghịch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thì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phương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trình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(1)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nghiệm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duy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nhất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729" y="2716710"/>
                <a:ext cx="11136534" cy="3862115"/>
              </a:xfrm>
              <a:blipFill rotWithShape="0">
                <a:blip r:embed="rId2"/>
                <a:stretch>
                  <a:fillRect l="-602" t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2001288" y="702091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Linear Regression (</a:t>
            </a:r>
            <a:r>
              <a:rPr lang="en-GB" dirty="0" err="1" smtClean="0"/>
              <a:t>Hồi</a:t>
            </a:r>
            <a:r>
              <a:rPr lang="en-GB" dirty="0" smtClean="0"/>
              <a:t> </a:t>
            </a:r>
            <a:r>
              <a:rPr lang="en-GB" dirty="0" err="1" smtClean="0"/>
              <a:t>quy</a:t>
            </a:r>
            <a:r>
              <a:rPr lang="en-GB" dirty="0" smtClean="0"/>
              <a:t> </a:t>
            </a:r>
            <a:r>
              <a:rPr lang="en-GB" dirty="0" err="1" smtClean="0"/>
              <a:t>tuyến</a:t>
            </a:r>
            <a:r>
              <a:rPr lang="en-GB" dirty="0" smtClean="0"/>
              <a:t> </a:t>
            </a:r>
            <a:r>
              <a:rPr lang="en-GB" dirty="0" err="1" smtClean="0"/>
              <a:t>tính</a:t>
            </a:r>
            <a:r>
              <a:rPr lang="en-GB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9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29" y="2067931"/>
            <a:ext cx="9613861" cy="617518"/>
          </a:xfrm>
        </p:spPr>
        <p:txBody>
          <a:bodyPr>
            <a:normAutofit/>
          </a:bodyPr>
          <a:lstStyle/>
          <a:p>
            <a:r>
              <a:rPr lang="en-GB" sz="2800" dirty="0"/>
              <a:t>3</a:t>
            </a:r>
            <a:r>
              <a:rPr lang="en-GB" sz="2800" dirty="0" smtClean="0"/>
              <a:t>/</a:t>
            </a:r>
            <a:r>
              <a:rPr lang="en-GB" sz="2800" dirty="0" err="1" smtClean="0"/>
              <a:t>Ưu</a:t>
            </a:r>
            <a:r>
              <a:rPr lang="en-GB" sz="2800" dirty="0" smtClean="0"/>
              <a:t> </a:t>
            </a:r>
            <a:r>
              <a:rPr lang="en-GB" sz="2800" dirty="0" err="1" smtClean="0"/>
              <a:t>nhược</a:t>
            </a:r>
            <a:r>
              <a:rPr lang="en-GB" sz="2800" dirty="0" smtClean="0"/>
              <a:t> </a:t>
            </a:r>
            <a:r>
              <a:rPr lang="en-GB" sz="2800" dirty="0" err="1" smtClean="0"/>
              <a:t>điểm</a:t>
            </a:r>
            <a:r>
              <a:rPr lang="en-GB" sz="2800" dirty="0" smtClean="0"/>
              <a:t> </a:t>
            </a:r>
            <a:r>
              <a:rPr lang="en-GB" sz="2800" dirty="0" err="1" smtClean="0"/>
              <a:t>của</a:t>
            </a:r>
            <a:r>
              <a:rPr lang="en-GB" sz="2800" dirty="0" smtClean="0"/>
              <a:t> </a:t>
            </a:r>
            <a:r>
              <a:rPr lang="en-GB" sz="2800" dirty="0" err="1" smtClean="0"/>
              <a:t>mô</a:t>
            </a:r>
            <a:r>
              <a:rPr lang="en-GB" sz="2800" dirty="0" smtClean="0"/>
              <a:t> </a:t>
            </a:r>
            <a:r>
              <a:rPr lang="en-GB" sz="2800" dirty="0" err="1" smtClean="0"/>
              <a:t>hình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5729" y="2716710"/>
                <a:ext cx="5051064" cy="3862115"/>
              </a:xfrm>
            </p:spPr>
            <p:txBody>
              <a:bodyPr>
                <a:normAutofit/>
              </a:bodyPr>
              <a:lstStyle/>
              <a:p>
                <a:r>
                  <a:rPr lang="vi-VN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Ư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u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điểm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mô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hình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đơn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giản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lời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giải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cho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phương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trình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đạo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hàm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bằng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0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cũng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khá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đơn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giản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. </a:t>
                </a:r>
              </a:p>
              <a:p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Nhược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điểm</a:t>
                </a:r>
                <a:r>
                  <a:rPr lang="en-GB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Rất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nhạy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cảm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nhiễu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(sensitive to noise).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Vì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vậy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trước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khi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thực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hiện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Linear Regression,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nhiễu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cần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phải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loại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bỏ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Tiền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xử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lý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Linear Regression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không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biểu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diễn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được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mô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hình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phức</a:t>
                </a:r>
                <a:r>
                  <a:rPr lang="en-GB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tạp</a:t>
                </a:r>
                <a:endParaRPr lang="en-GB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 VD: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729" y="2716710"/>
                <a:ext cx="5051064" cy="3862115"/>
              </a:xfrm>
              <a:blipFill rotWithShape="0">
                <a:blip r:embed="rId2"/>
                <a:stretch>
                  <a:fillRect l="-1086" t="-1580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2001288" y="702091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Linear Regression (</a:t>
            </a:r>
            <a:r>
              <a:rPr lang="en-GB" dirty="0" err="1" smtClean="0"/>
              <a:t>Hồi</a:t>
            </a:r>
            <a:r>
              <a:rPr lang="en-GB" dirty="0" smtClean="0"/>
              <a:t> </a:t>
            </a:r>
            <a:r>
              <a:rPr lang="en-GB" dirty="0" err="1" smtClean="0"/>
              <a:t>quy</a:t>
            </a:r>
            <a:r>
              <a:rPr lang="en-GB" dirty="0" smtClean="0"/>
              <a:t> </a:t>
            </a:r>
            <a:r>
              <a:rPr lang="en-GB" dirty="0" err="1" smtClean="0"/>
              <a:t>tuyến</a:t>
            </a:r>
            <a:r>
              <a:rPr lang="en-GB" dirty="0" smtClean="0"/>
              <a:t> </a:t>
            </a:r>
            <a:r>
              <a:rPr lang="en-GB" dirty="0" err="1" smtClean="0"/>
              <a:t>tính</a:t>
            </a:r>
            <a:r>
              <a:rPr lang="en-GB" dirty="0" smtClean="0"/>
              <a:t>)</a:t>
            </a:r>
            <a:endParaRPr lang="en-US" dirty="0"/>
          </a:p>
        </p:txBody>
      </p:sp>
      <p:pic>
        <p:nvPicPr>
          <p:cNvPr id="1028" name="Picture 4" descr="https://machinelearningcoban.com/assets/LR/output_13_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498" y="2885641"/>
            <a:ext cx="5162550" cy="35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45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tro move film projector with text thanks for watching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96" y="1389725"/>
            <a:ext cx="5986695" cy="437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09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Custom 1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7421116_Reflection on learning_AAS_v5" id="{59B7BDFB-57AB-4529-979B-198FE99CC53E}" vid="{8B6E8B8A-CD93-411A-90DE-1F9807F38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F1D2AC-2735-457E-B639-07E13F9A629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8699A2-1304-4DB0-887E-96D5B04746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2AB9FA-5EE8-4111-B873-E09ACA2BC3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Reflection on learning </Template>
  <TotalTime>0</TotalTime>
  <Words>566</Words>
  <Application>Microsoft Office PowerPoint</Application>
  <PresentationFormat>Widescreen</PresentationFormat>
  <Paragraphs>74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Courier New</vt:lpstr>
      <vt:lpstr>Segoe UI</vt:lpstr>
      <vt:lpstr>Trebuchet MS</vt:lpstr>
      <vt:lpstr>Wingdings</vt:lpstr>
      <vt:lpstr>Berlin</vt:lpstr>
      <vt:lpstr>Machine Learning và Linear Regression</vt:lpstr>
      <vt:lpstr>Machine learning là gì ??</vt:lpstr>
      <vt:lpstr>Phân nhóm các thuật toán Machine Learning</vt:lpstr>
      <vt:lpstr>Linear Regression (Hồi quy tuyến tính)</vt:lpstr>
      <vt:lpstr>1/Bài toán ví dụ</vt:lpstr>
      <vt:lpstr>2/Phân tích toán học</vt:lpstr>
      <vt:lpstr>2/Phân tích toán học</vt:lpstr>
      <vt:lpstr>2/Phân tích toán học</vt:lpstr>
      <vt:lpstr>3/Ưu nhược điểm của mô hình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2020-04-25T13:52:31Z</dcterms:created>
  <dcterms:modified xsi:type="dcterms:W3CDTF">2020-05-05T08:07:30Z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